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4" r:id="rId3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开场：今天只讲一个核心词——Graph。</a:t>
            </a:r>
          </a:p>
          <a:p>
            <a:r>
              <a:t>一万个 Agent 不是把一万个聊天窗口摆在一起，而是让它们共享同一张工作图。</a:t>
            </a:r>
          </a:p>
          <a:p>
            <a:r>
              <a:t>1Agents 做的，是把数据、任务、执行、验证和回写放进同一个可持续推进的系统。</a:t>
            </a:r>
          </a:p>
          <a:p/>
          <a:p>
            <a:r>
              <a:t>[Sources]</a:t>
            </a:r>
          </a:p>
          <a:p>
            <a:r>
              <a:t>- /Users/scott/Documents/01-开发项目/1agents/1agents_app/README.md</a:t>
            </a:r>
          </a:p>
          <a:p>
            <a:r>
              <a:t>- /Users/scott/Documents/01-开发项目/1agents/1agents_app/docs/product/1Agents_项目介绍.md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单个 Agent 可以很聪明，但如果工作只存在聊天上下文里，就无法规模化协作。</a:t>
            </a:r>
          </a:p>
          <a:p>
            <a:r>
              <a:t>Loop 适合描述重复；真实工作还需要依赖、状态、分支、并行和回退。</a:t>
            </a:r>
          </a:p>
          <a:p>
            <a:r>
              <a:t>所以我们把工作抽象为 Graph：节点承载对象，边承载关系，状态驱动下一步。</a:t>
            </a:r>
          </a:p>
          <a:p/>
          <a:p>
            <a:r>
              <a:t>[Sources]</a:t>
            </a:r>
          </a:p>
          <a:p>
            <a:r>
              <a:t>- /Users/scott/Documents/01-开发项目/1agents/1agents_app/README.md</a:t>
            </a:r>
          </a:p>
          <a:p>
            <a:r>
              <a:t>- /Users/scott/Documents/01-开发项目/1agents/1agents_app/docs/product/1Agents_营销素材与项目定位白皮书.md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这张图是 1Agents 的系统首页。</a:t>
            </a:r>
          </a:p>
          <a:p>
            <a:r>
              <a:t>项目/工作区是 Graph 的上下文边界；会话、任务、终端、文件和渠道都围绕它组织。</a:t>
            </a:r>
          </a:p>
          <a:p>
            <a:r>
              <a:t>这样 Agent 的每次动作不再是孤立回答，而是项目状态的一次变化。</a:t>
            </a:r>
          </a:p>
          <a:p/>
          <a:p>
            <a:r>
              <a:t>[Sources]</a:t>
            </a:r>
          </a:p>
          <a:p>
            <a:r>
              <a:t>- /Users/scott/Desktop/系统首页.png</a:t>
            </a:r>
          </a:p>
          <a:p>
            <a:r>
              <a:t>- /Users/scott/Documents/01-开发项目/1agents/1agents_app/README.md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这是最关键的一页：先有数据源集成和治理，再通过 Python 脚本做热更新。</a:t>
            </a:r>
          </a:p>
          <a:p>
            <a:r>
              <a:t>Inbox 对信息分类和意图识别，提取真实需求与反馈，创建需求卡片。</a:t>
            </a:r>
          </a:p>
          <a:p>
            <a:r>
              <a:t>需求进入任务蓝图，继续拆成待办与里程碑；Schedule 经 1ACP 分发给 Codex、Claude Code 等执行。</a:t>
            </a:r>
          </a:p>
          <a:p>
            <a:r>
              <a:t>最后 Check 验收；通过关闭，不通过带原因返工，结果实时回写蓝图。</a:t>
            </a:r>
          </a:p>
          <a:p/>
          <a:p>
            <a:r>
              <a:t>[Sources]</a:t>
            </a:r>
          </a:p>
          <a:p>
            <a:r>
              <a:t>- /Users/scott/.codex/attachments/41718eaf-234b-4b9f-9d26-b905b53225e2/pasted-text.txt</a:t>
            </a:r>
          </a:p>
          <a:p>
            <a:r>
              <a:t>- /Users/scott/Documents/01-开发项目/1agents/1agents_app/README.md</a:t>
            </a:r>
          </a:p>
          <a:p>
            <a:r>
              <a:t>- /Users/scott/Documents/01-开发项目/1agents/1agents_app/docs/features/project-model/design.md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任务蓝图是产品里最重要的可视化能力。</a:t>
            </a:r>
          </a:p>
          <a:p>
            <a:r>
              <a:t>左侧是模块和功能点的层级，右侧把来源需求、交付任务、状态和版本关联起来。</a:t>
            </a:r>
          </a:p>
          <a:p>
            <a:r>
              <a:t>它不是把任务排成列表，而是让我们随时知道：节点在哪里、从哪里来、依赖谁、现在是什么状态。</a:t>
            </a:r>
          </a:p>
          <a:p/>
          <a:p>
            <a:r>
              <a:t>[Sources]</a:t>
            </a:r>
          </a:p>
          <a:p>
            <a:r>
              <a:t>- /Users/scott/Desktop/功能蓝图.png</a:t>
            </a:r>
          </a:p>
          <a:p>
            <a:r>
              <a:t>- /Users/scott/.codex/attachments/41718eaf-234b-4b9f-9d26-b905b53225e2/pasted-text.txt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任务先进入调度器，依赖和触发时间满足后再被派发。</a:t>
            </a:r>
          </a:p>
          <a:p>
            <a:r>
              <a:t>1ACP/ACPX 提供结构化协议通道，把会话、权限、工具事件和结果连接到 Codex、Claude Code 或其他 ACP Agent。</a:t>
            </a:r>
          </a:p>
          <a:p>
            <a:r>
              <a:t>同时不是所有节点都要交给 Agent：固定步骤给 Function，最终责任和取舍给 Human。</a:t>
            </a:r>
          </a:p>
          <a:p>
            <a:r>
              <a:t>因此执行者可以替换，但 Graph 的状态、依赖和验收仍然稳定。</a:t>
            </a:r>
          </a:p>
          <a:p/>
          <a:p>
            <a:r>
              <a:t>[Sources]</a:t>
            </a:r>
          </a:p>
          <a:p>
            <a:r>
              <a:t>- /Users/scott/Documents/01-开发项目/1agents/1agents_app/README.md</a:t>
            </a:r>
          </a:p>
          <a:p>
            <a:r>
              <a:t>- /Users/scott/Documents/01-开发项目/1agents/1agents_app/modules/1acp/README.md</a:t>
            </a:r>
          </a:p>
          <a:p>
            <a:r>
              <a:t>- /Users/scott/Documents/01-开发项目/1agents/1agents_app/docs/features/project-model/design.md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所以为什么不是 Loop？因为 Loop 只告诉你再执行一次。</a:t>
            </a:r>
          </a:p>
          <a:p>
            <a:r>
              <a:t>Graph 还能回答：当前在哪个节点、是什么状态、依赖是否满足、验收后走哪条边。</a:t>
            </a:r>
          </a:p>
          <a:p>
            <a:r>
              <a:t>通过就关闭并回写，不通过就带着原因重入对应节点；多个节点也可以并行。</a:t>
            </a:r>
          </a:p>
          <a:p>
            <a:r>
              <a:t>节点、状态、判断和回流，构成了自循环智能体基础设施的最小单元。</a:t>
            </a:r>
          </a:p>
          <a:p/>
          <a:p>
            <a:r>
              <a:t>[Sources]</a:t>
            </a:r>
          </a:p>
          <a:p>
            <a:r>
              <a:t>- /Users/scott/Documents/01-开发项目/1agents/1agents_app/README.md</a:t>
            </a:r>
          </a:p>
          <a:p>
            <a:r>
              <a:t>- /Users/scott/Documents/01-开发项目/1agents/1agents_app/docs/product/1Agents_项目介绍.md</a:t>
            </a:r>
          </a:p>
          <a:p>
            <a:r>
              <a:t>- /Users/scott/Documents/01-开发项目/1agents/1agents_app/docs/features/project-model/design.md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收束：模型能力还会继续变化，但工作图必须稳定。</a:t>
            </a:r>
          </a:p>
          <a:p>
            <a:r>
              <a:t>当节点、状态、判断和回流被系统化，一万个 Agent 才能共享同一套目标与事实。</a:t>
            </a:r>
          </a:p>
          <a:p>
            <a:r>
              <a:t>谢谢大家，欢迎扫码交流。</a:t>
            </a:r>
          </a:p>
          <a:p/>
          <a:p>
            <a:r>
              <a:t>[Sources]</a:t>
            </a:r>
          </a:p>
          <a:p>
            <a:r>
              <a:t>- /Users/scott/Desktop/我的联系方式.jpg</a:t>
            </a:r>
          </a:p>
          <a:p>
            <a:r>
              <a:t>- /Users/scott/Documents/01-开发项目/1agents/1agents_app/README.md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685800" y="742950"/>
            <a:ext cx="352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368E8"/>
                </a:solidFill>
              </a:defRPr>
            </a:pPr>
            <a:r>
              <a:rPr sz="120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1AGENTS · LIGHTNING TALK</a:t>
            </a:r>
            <a:endParaRPr sz="120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deck-title"/>
          <p:cNvSpPr>
            <a:spLocks noGrp="1"/>
          </p:cNvSpPr>
          <p:nvPr/>
        </p:nvSpPr>
        <p:spPr>
          <a:xfrm>
            <a:off x="685800" y="140970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950" b="1">
                <a:solidFill>
                  <a:srgbClr val="0B1F3A"/>
                </a:solidFill>
              </a:defRPr>
            </a:pPr>
            <a:r>
              <a:rPr sz="495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一万-Agent Infra</a:t>
            </a:r>
            <a:endParaRPr sz="495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deck-subtitle"/>
          <p:cNvSpPr>
            <a:spLocks noGrp="1"/>
          </p:cNvSpPr>
          <p:nvPr/>
        </p:nvSpPr>
        <p:spPr>
          <a:xfrm>
            <a:off x="704850" y="2324100"/>
            <a:ext cx="609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368E8"/>
                </a:solidFill>
              </a:defRPr>
            </a:pPr>
            <a:r>
              <a:rPr sz="255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如何搭建自循环的智能体 Graph</a:t>
            </a:r>
            <a:endParaRPr sz="255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124200"/>
            <a:ext cx="557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B6B7F"/>
                </a:solidFill>
              </a:defRPr>
            </a:pPr>
            <a:r>
              <a:rPr sz="17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把</a:t>
            </a:r>
            <a:r>
              <a:rPr lang="zh-CN" sz="17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需求</a:t>
            </a:r>
            <a:r>
              <a:rPr sz="17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、计划、调度、执行与验收，连接成一张会持续推进的工作图。</a:t>
            </a:r>
            <a:endParaRPr sz="17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63C"/>
                </a:solidFill>
              </a:defRPr>
            </a:pPr>
            <a:r>
              <a:rPr lang="en-US" sz="165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@</a:t>
            </a:r>
            <a:r>
              <a:rPr sz="165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晓风谈AI</a:t>
            </a:r>
            <a:endParaRPr sz="1650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57912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8B98A9"/>
                </a:solidFill>
              </a:defRPr>
            </a:pPr>
            <a:r>
              <a:rPr sz="1350" b="0">
                <a:solidFill>
                  <a:srgbClr val="8B98A9"/>
                </a:solidFill>
                <a:latin typeface="微软雅黑" charset="0"/>
                <a:ea typeface="微软雅黑" charset="0"/>
              </a:rPr>
              <a:t>2026-08-01</a:t>
            </a:r>
            <a:endParaRPr sz="1350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7219950" y="990600"/>
            <a:ext cx="3981450" cy="3981450"/>
          </a:xfrm>
          <a:prstGeom prst="ellipse">
            <a:avLst/>
          </a:prstGeom>
          <a:noFill/>
          <a:ln w="19050">
            <a:solidFill>
              <a:srgbClr val="D9EAFE"/>
            </a:solidFill>
            <a:prstDash val="dash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8543925" y="2305050"/>
            <a:ext cx="1352550" cy="1352550"/>
          </a:xfrm>
          <a:prstGeom prst="ellipse">
            <a:avLst/>
          </a:prstGeom>
          <a:solidFill>
            <a:srgbClr val="1368E8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43925" y="276225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1Agents</a:t>
            </a:r>
            <a:endParaRPr sz="195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467600" y="1238250"/>
            <a:ext cx="781050" cy="7810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467600" y="15049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DATA</a:t>
            </a:r>
            <a:endParaRPr sz="11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039350" y="1447800"/>
            <a:ext cx="781050" cy="781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39350" y="17145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INBOX</a:t>
            </a:r>
            <a:endParaRPr sz="11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401300" y="3638550"/>
            <a:ext cx="781050" cy="7810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401300" y="39052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PLAN</a:t>
            </a:r>
            <a:endParaRPr sz="11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7839075" y="4438650"/>
            <a:ext cx="781050" cy="781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39075" y="470535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AGENT</a:t>
            </a:r>
            <a:endParaRPr sz="11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6810375" y="2895600"/>
            <a:ext cx="781050" cy="781050"/>
          </a:xfrm>
          <a:prstGeom prst="ellipse">
            <a:avLst/>
          </a:prstGeom>
          <a:solidFill>
            <a:srgbClr val="E7F7F1"/>
          </a:solidFill>
          <a:ln w="9525">
            <a:solidFill>
              <a:srgbClr val="17A673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810375" y="3162300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A673"/>
                </a:solidFill>
              </a:defRPr>
            </a:pPr>
            <a:r>
              <a:rPr sz="1125" b="1">
                <a:solidFill>
                  <a:srgbClr val="17A673"/>
                </a:solidFill>
                <a:latin typeface="微软雅黑" charset="0"/>
                <a:ea typeface="微软雅黑" charset="0"/>
              </a:rPr>
              <a:t>CHECK</a:t>
            </a:r>
            <a:endParaRPr sz="1125" b="1">
              <a:solidFill>
                <a:srgbClr val="17A673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44" name="直接箭头连接符 43"/>
          <p:cNvCxnSpPr>
            <a:stCxn id="10" idx="5"/>
            <a:endCxn id="8" idx="1"/>
          </p:cNvCxnSpPr>
          <p:nvPr/>
        </p:nvCxnSpPr>
        <p:spPr>
          <a:xfrm>
            <a:off x="8134268" y="1904918"/>
            <a:ext cx="607733" cy="598208"/>
          </a:xfrm>
          <a:prstGeom prst="straightConnector1">
            <a:avLst/>
          </a:prstGeom>
          <a:ln w="19050">
            <a:solidFill>
              <a:srgbClr val="D9EAFE"/>
            </a:solidFill>
            <a:prstDash val="solid"/>
          </a:ln>
        </p:spPr>
      </p:cxnSp>
      <p:cxnSp>
        <p:nvCxnSpPr>
          <p:cNvPr id="45" name="直接箭头连接符 44"/>
          <p:cNvCxnSpPr>
            <a:stCxn id="12" idx="3"/>
            <a:endCxn id="8" idx="7"/>
          </p:cNvCxnSpPr>
          <p:nvPr/>
        </p:nvCxnSpPr>
        <p:spPr>
          <a:xfrm flipH="1">
            <a:off x="9698399" y="2114468"/>
            <a:ext cx="455333" cy="388658"/>
          </a:xfrm>
          <a:prstGeom prst="straightConnector1">
            <a:avLst/>
          </a:prstGeom>
          <a:ln w="19050">
            <a:solidFill>
              <a:srgbClr val="D9EAFE"/>
            </a:solidFill>
            <a:prstDash val="solid"/>
          </a:ln>
        </p:spPr>
      </p:cxnSp>
      <p:cxnSp>
        <p:nvCxnSpPr>
          <p:cNvPr id="46" name="直接箭头连接符 45"/>
          <p:cNvCxnSpPr>
            <a:stCxn id="14" idx="1"/>
            <a:endCxn id="8" idx="5"/>
          </p:cNvCxnSpPr>
          <p:nvPr/>
        </p:nvCxnSpPr>
        <p:spPr>
          <a:xfrm flipH="1" flipV="1">
            <a:off x="9698399" y="3459524"/>
            <a:ext cx="817283" cy="293408"/>
          </a:xfrm>
          <a:prstGeom prst="straightConnector1">
            <a:avLst/>
          </a:prstGeom>
          <a:ln w="19050">
            <a:solidFill>
              <a:srgbClr val="D9EAFE"/>
            </a:solidFill>
            <a:prstDash val="solid"/>
          </a:ln>
        </p:spPr>
      </p:cxnSp>
      <p:cxnSp>
        <p:nvCxnSpPr>
          <p:cNvPr id="47" name="直接箭头连接符 46"/>
          <p:cNvCxnSpPr>
            <a:stCxn id="16" idx="0"/>
            <a:endCxn id="8" idx="3"/>
          </p:cNvCxnSpPr>
          <p:nvPr/>
        </p:nvCxnSpPr>
        <p:spPr>
          <a:xfrm flipV="1">
            <a:off x="8229600" y="3459524"/>
            <a:ext cx="512401" cy="979126"/>
          </a:xfrm>
          <a:prstGeom prst="straightConnector1">
            <a:avLst/>
          </a:prstGeom>
          <a:ln w="19050">
            <a:solidFill>
              <a:srgbClr val="D9EAFE"/>
            </a:solidFill>
            <a:prstDash val="solid"/>
          </a:ln>
        </p:spPr>
      </p:cxnSp>
      <p:cxnSp>
        <p:nvCxnSpPr>
          <p:cNvPr id="48" name="直接箭头连接符 47"/>
          <p:cNvCxnSpPr>
            <a:stCxn id="18" idx="6"/>
            <a:endCxn id="8" idx="2"/>
          </p:cNvCxnSpPr>
          <p:nvPr/>
        </p:nvCxnSpPr>
        <p:spPr>
          <a:xfrm flipV="1">
            <a:off x="7591425" y="2981325"/>
            <a:ext cx="952500" cy="304800"/>
          </a:xfrm>
          <a:prstGeom prst="straightConnector1">
            <a:avLst/>
          </a:prstGeom>
          <a:ln w="19050">
            <a:solidFill>
              <a:srgbClr val="D9EAFE"/>
            </a:solidFill>
            <a:prstDash val="soli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THE BOTTLENECK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要让一万个 Agent 协作，先把“工作”变成 Graph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676400"/>
            <a:ext cx="4762500" cy="3962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" name="矩形 3"/>
          <p:cNvSpPr>
            <a:spLocks noGrp="1"/>
          </p:cNvSpPr>
          <p:nvPr/>
        </p:nvSpPr>
        <p:spPr>
          <a:xfrm>
            <a:off x="933450" y="201930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B6B7F"/>
                </a:solidFill>
              </a:defRPr>
            </a:pPr>
            <a:r>
              <a:rPr sz="2100" b="1">
                <a:solidFill>
                  <a:srgbClr val="5B6B7F"/>
                </a:solidFill>
                <a:latin typeface="微软雅黑" charset="0"/>
                <a:ea typeface="微软雅黑" charset="0"/>
              </a:rPr>
              <a:t>聊天式 Loop</a:t>
            </a:r>
            <a:endParaRPr sz="2100" b="1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66800" y="2876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63C"/>
                </a:solidFill>
              </a:defRPr>
            </a:pPr>
            <a:r>
              <a:rPr sz="165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一次提问</a:t>
            </a:r>
            <a:endParaRPr sz="1650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543300" y="28765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63C"/>
                </a:solidFill>
              </a:defRPr>
            </a:pPr>
            <a:r>
              <a:rPr sz="165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一次回答</a:t>
            </a:r>
            <a:endParaRPr sz="1650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257300" y="3371850"/>
            <a:ext cx="723900" cy="723900"/>
          </a:xfrm>
          <a:prstGeom prst="ellipse">
            <a:avLst/>
          </a:prstGeom>
          <a:solidFill>
            <a:srgbClr val="EAF3FF"/>
          </a:solidFill>
          <a:ln w="9525">
            <a:solidFill>
              <a:srgbClr val="1368E8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3733800" y="3371850"/>
            <a:ext cx="723900" cy="723900"/>
          </a:xfrm>
          <a:prstGeom prst="ellipse">
            <a:avLst/>
          </a:prstGeom>
          <a:solidFill>
            <a:srgbClr val="EAF3FF"/>
          </a:solidFill>
          <a:ln w="9525">
            <a:solidFill>
              <a:srgbClr val="1368E8"/>
            </a:solidFill>
            <a:prstDash val="solid"/>
          </a:ln>
        </p:spPr>
      </p:sp>
      <p:cxnSp>
        <p:nvCxnSpPr>
          <p:cNvPr id="42" name="曲线连接符 41"/>
          <p:cNvCxnSpPr>
            <a:stCxn id="7" idx="6"/>
            <a:endCxn id="8" idx="2"/>
          </p:cNvCxnSpPr>
          <p:nvPr/>
        </p:nvCxnSpPr>
        <p:spPr>
          <a:xfrm>
            <a:off x="1981200" y="3733800"/>
            <a:ext cx="1752600" cy="0"/>
          </a:xfrm>
          <a:prstGeom prst="curvedConnector2">
            <a:avLst/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cxnSp>
        <p:nvCxnSpPr>
          <p:cNvPr id="43" name="曲线连接符 42"/>
          <p:cNvCxnSpPr>
            <a:stCxn id="8" idx="2"/>
            <a:endCxn id="7" idx="6"/>
          </p:cNvCxnSpPr>
          <p:nvPr/>
        </p:nvCxnSpPr>
        <p:spPr>
          <a:xfrm flipH="1">
            <a:off x="1981200" y="3733800"/>
            <a:ext cx="1752600" cy="0"/>
          </a:xfrm>
          <a:prstGeom prst="curvedConnector2">
            <a:avLst/>
          </a:prstGeom>
          <a:ln w="19050">
            <a:solidFill>
              <a:srgbClr val="8B98A9"/>
            </a:solidFill>
            <a:prstDash val="dash"/>
            <a:tailEnd type="triangle" w="sm" len="sm"/>
          </a:ln>
        </p:spPr>
      </p:cxnSp>
      <p:sp>
        <p:nvSpPr>
          <p:cNvPr id="11" name="矩形 10"/>
          <p:cNvSpPr>
            <a:spLocks noGrp="1"/>
          </p:cNvSpPr>
          <p:nvPr/>
        </p:nvSpPr>
        <p:spPr>
          <a:xfrm>
            <a:off x="802640" y="4705350"/>
            <a:ext cx="426466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5B6B7F"/>
                </a:solidFill>
              </a:defRPr>
            </a:pPr>
            <a:r>
              <a:rPr sz="15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上下文碎片化 · 需要人工唤醒 · 结果难回流</a:t>
            </a:r>
            <a:endParaRPr sz="15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734050" y="1676400"/>
            <a:ext cx="5848350" cy="39624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6076950" y="20193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368E8"/>
                </a:solidFill>
              </a:defRPr>
            </a:pPr>
            <a:r>
              <a:rPr sz="210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可执行 Work Graph</a:t>
            </a:r>
            <a:endParaRPr sz="210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153150" y="2724150"/>
            <a:ext cx="1905000" cy="9144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324600" y="28956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节点</a:t>
            </a:r>
            <a:endParaRPr sz="17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24600" y="3238500"/>
            <a:ext cx="167830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任务 / 需求 / 里程碑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048750" y="2724150"/>
            <a:ext cx="1905000" cy="9144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9220200" y="28956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状态</a:t>
            </a:r>
            <a:endParaRPr sz="17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220200" y="323850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计划 / 执行 / 验收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53150" y="4171950"/>
            <a:ext cx="1905000" cy="9144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6324600" y="43434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判断</a:t>
            </a:r>
            <a:endParaRPr sz="17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24600" y="468630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通过 / 返工 / 阻塞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048750" y="4171950"/>
            <a:ext cx="1905000" cy="914400"/>
          </a:xfrm>
          <a:prstGeom prst="roundRect">
            <a:avLst>
              <a:gd name="adj" fmla="val 18750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4" name="矩形 23"/>
          <p:cNvSpPr>
            <a:spLocks noGrp="1"/>
          </p:cNvSpPr>
          <p:nvPr/>
        </p:nvSpPr>
        <p:spPr>
          <a:xfrm>
            <a:off x="9220200" y="4343400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边</a:t>
            </a:r>
            <a:endParaRPr sz="17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20200" y="4686300"/>
            <a:ext cx="1562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依赖 / 分发 / 回写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59" name="直接箭头连接符 58"/>
          <p:cNvCxnSpPr>
            <a:stCxn id="14" idx="3"/>
            <a:endCxn id="17" idx="1"/>
          </p:cNvCxnSpPr>
          <p:nvPr/>
        </p:nvCxnSpPr>
        <p:spPr>
          <a:xfrm>
            <a:off x="8058150" y="3181350"/>
            <a:ext cx="990600" cy="0"/>
          </a:xfrm>
          <a:prstGeom prst="straightConnector1">
            <a:avLst/>
          </a:prstGeom>
          <a:ln w="19050">
            <a:solidFill>
              <a:srgbClr val="17A673"/>
            </a:solidFill>
            <a:prstDash val="solid"/>
            <a:headEnd type="triangle" w="med" len="med"/>
            <a:tailEnd type="none" w="sm" len="sm"/>
          </a:ln>
        </p:spPr>
      </p:cxnSp>
      <p:cxnSp>
        <p:nvCxnSpPr>
          <p:cNvPr id="60" name="直接箭头连接符 59"/>
          <p:cNvCxnSpPr>
            <a:stCxn id="14" idx="2"/>
            <a:endCxn id="20" idx="0"/>
          </p:cNvCxnSpPr>
          <p:nvPr/>
        </p:nvCxnSpPr>
        <p:spPr>
          <a:xfrm>
            <a:off x="7105650" y="3638550"/>
            <a:ext cx="0" cy="533400"/>
          </a:xfrm>
          <a:prstGeom prst="straightConnector1">
            <a:avLst/>
          </a:prstGeom>
          <a:ln w="19050">
            <a:solidFill>
              <a:srgbClr val="17A673"/>
            </a:solidFill>
            <a:prstDash val="solid"/>
            <a:headEnd type="triangle" w="med" len="med"/>
            <a:tailEnd type="none" w="sm" len="sm"/>
          </a:ln>
        </p:spPr>
      </p:cxnSp>
      <p:cxnSp>
        <p:nvCxnSpPr>
          <p:cNvPr id="61" name="直接箭头连接符 60"/>
          <p:cNvCxnSpPr>
            <a:stCxn id="17" idx="2"/>
            <a:endCxn id="23" idx="0"/>
          </p:cNvCxnSpPr>
          <p:nvPr/>
        </p:nvCxnSpPr>
        <p:spPr>
          <a:xfrm>
            <a:off x="10001250" y="3638550"/>
            <a:ext cx="0" cy="533400"/>
          </a:xfrm>
          <a:prstGeom prst="straightConnector1">
            <a:avLst/>
          </a:prstGeom>
          <a:ln w="19050">
            <a:solidFill>
              <a:srgbClr val="17A673"/>
            </a:solidFill>
            <a:prstDash val="solid"/>
            <a:headEnd type="triangle" w="med" len="med"/>
            <a:tailEnd type="none" w="sm" len="sm"/>
          </a:ln>
        </p:spPr>
      </p:cxnSp>
      <p:cxnSp>
        <p:nvCxnSpPr>
          <p:cNvPr id="62" name="直接箭头连接符 61"/>
          <p:cNvCxnSpPr>
            <a:stCxn id="20" idx="3"/>
            <a:endCxn id="23" idx="1"/>
          </p:cNvCxnSpPr>
          <p:nvPr/>
        </p:nvCxnSpPr>
        <p:spPr>
          <a:xfrm>
            <a:off x="8058150" y="4629150"/>
            <a:ext cx="990600" cy="0"/>
          </a:xfrm>
          <a:prstGeom prst="straightConnector1">
            <a:avLst/>
          </a:prstGeom>
          <a:ln w="19050">
            <a:solidFill>
              <a:srgbClr val="17A673"/>
            </a:solidFill>
            <a:prstDash val="solid"/>
            <a:headEnd type="triangle" w="med" len="med"/>
            <a:tailEnd type="none" w="sm" len="sm"/>
          </a:ln>
        </p:spPr>
      </p:cxnSp>
      <p:sp>
        <p:nvSpPr>
          <p:cNvPr id="30" name="矩形 29"/>
          <p:cNvSpPr>
            <a:spLocks noGrp="1"/>
          </p:cNvSpPr>
          <p:nvPr/>
        </p:nvSpPr>
        <p:spPr>
          <a:xfrm>
            <a:off x="1352550" y="5905500"/>
            <a:ext cx="9486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Agent 的上限，取决于节点之间能否携带状态、依赖与验收。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02</a:t>
            </a:r>
            <a:endParaRPr sz="900" b="1">
              <a:solidFill>
                <a:srgbClr val="8B98A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SHARED CONTEXT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统一工作台，让每项工作都有归属、有上下文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椭圆 2"/>
          <p:cNvSpPr>
            <a:spLocks noGrp="1"/>
          </p:cNvSpPr>
          <p:nvPr/>
        </p:nvSpPr>
        <p:spPr>
          <a:xfrm>
            <a:off x="594995" y="1584325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94995" y="16414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1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52195" y="156527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项目 / 工作区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52195" y="1908175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把目录、上下文、会话与配置放进同一个边界。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594995" y="2860675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94995" y="29178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2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52195" y="284162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会话 / 任务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52195" y="3184525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讨论不再漂浮；每次执行都能关联项目与任务。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94995" y="4137025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4995" y="41941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3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52195" y="4117975"/>
            <a:ext cx="2686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终端 / 文件 / 渠道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52195" y="4460875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Agent 在真实工作环境里执行，产出可被追踪和回写。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144010" y="1600200"/>
            <a:ext cx="7581900" cy="447675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rcRect t="839" b="839"/>
          <a:stretch>
            <a:fillRect/>
          </a:stretch>
        </p:blipFill>
        <p:spPr>
          <a:xfrm>
            <a:off x="4239260" y="1695450"/>
            <a:ext cx="739140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623570" y="5470525"/>
            <a:ext cx="3095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368E8"/>
                </a:solidFill>
              </a:defRPr>
            </a:pPr>
            <a:r>
              <a:rPr sz="150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统一入口不是“把功能放在一起”，而是让 Graph 共享同一套上下文。</a:t>
            </a:r>
            <a:endParaRPr sz="150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03</a:t>
            </a:r>
            <a:endParaRPr sz="900" b="1">
              <a:solidFill>
                <a:srgbClr val="8B98A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THE BUSINESS GRAPH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从数据进入，到验收回写，业务链路天然就是一张图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736725"/>
            <a:ext cx="2343150" cy="24765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9081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368E8"/>
                </a:solidFill>
              </a:defRPr>
            </a:pPr>
            <a:r>
              <a:rPr sz="20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① 数据层</a:t>
            </a:r>
            <a:endParaRPr sz="20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57250" y="2251075"/>
            <a:ext cx="213233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75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数据源集成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75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数据治理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75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Python 脚本热更新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352800" y="1736725"/>
            <a:ext cx="2724150" cy="247650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3524250" y="19081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368E8"/>
                </a:solidFill>
              </a:defRPr>
            </a:pPr>
            <a:r>
              <a:rPr sz="20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② 组织层</a:t>
            </a:r>
            <a:endParaRPr sz="20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24250" y="2251075"/>
            <a:ext cx="23812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Inbox 分类与意图识别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提取需求 / 反馈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创建需求卡片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纳入任务蓝图与里程碑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400800" y="1736725"/>
            <a:ext cx="2400300" cy="2476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1908175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368E8"/>
                </a:solidFill>
              </a:defRPr>
            </a:pPr>
            <a:r>
              <a:rPr sz="20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③ 调度层</a:t>
            </a:r>
            <a:endParaRPr sz="20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2251075"/>
            <a:ext cx="205740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生成待办执行点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Schedule 定时与任务调度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通过 1ACP 分发给 Agent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124950" y="1736725"/>
            <a:ext cx="2381250" cy="24765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9525">
            <a:solidFill>
              <a:srgbClr val="B8E6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9296400" y="190817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A673"/>
                </a:solidFill>
              </a:defRPr>
            </a:pPr>
            <a:r>
              <a:rPr sz="2025" b="1">
                <a:solidFill>
                  <a:srgbClr val="17A673"/>
                </a:solidFill>
                <a:latin typeface="微软雅黑" charset="0"/>
                <a:ea typeface="微软雅黑" charset="0"/>
              </a:rPr>
              <a:t>④ 闭环层</a:t>
            </a:r>
            <a:endParaRPr sz="2025" b="1">
              <a:solidFill>
                <a:srgbClr val="17A67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296400" y="2251075"/>
            <a:ext cx="2038350" cy="1866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Codex / Claude Code 执行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Check / 验收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90204" pitchFamily="34" charset="0"/>
              <a:buChar char="•"/>
              <a:defRPr sz="1500" b="0">
                <a:solidFill>
                  <a:srgbClr val="5B6B7F"/>
                </a:solidFill>
              </a:defRPr>
            </a:pPr>
            <a:r>
              <a:rPr sz="140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通过则关闭，不通过则返工</a:t>
            </a:r>
            <a:endParaRPr sz="140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38" name="直接箭头连接符 37"/>
          <p:cNvCxnSpPr>
            <a:stCxn id="3" idx="3"/>
            <a:endCxn id="6" idx="1"/>
          </p:cNvCxnSpPr>
          <p:nvPr/>
        </p:nvCxnSpPr>
        <p:spPr>
          <a:xfrm>
            <a:off x="3028950" y="2974975"/>
            <a:ext cx="323850" cy="0"/>
          </a:xfrm>
          <a:prstGeom prst="straightConnector1">
            <a:avLst/>
          </a:prstGeom>
          <a:ln w="19050">
            <a:solidFill>
              <a:srgbClr val="1368E8"/>
            </a:solidFill>
            <a:prstDash val="solid"/>
            <a:tailEnd type="triangle" w="sm" len="sm"/>
          </a:ln>
        </p:spPr>
      </p:cxnSp>
      <p:cxnSp>
        <p:nvCxnSpPr>
          <p:cNvPr id="39" name="直接箭头连接符 38"/>
          <p:cNvCxnSpPr>
            <a:stCxn id="6" idx="3"/>
            <a:endCxn id="9" idx="1"/>
          </p:cNvCxnSpPr>
          <p:nvPr/>
        </p:nvCxnSpPr>
        <p:spPr>
          <a:xfrm>
            <a:off x="6076950" y="2974975"/>
            <a:ext cx="323850" cy="0"/>
          </a:xfrm>
          <a:prstGeom prst="straightConnector1">
            <a:avLst/>
          </a:prstGeom>
          <a:ln w="19050">
            <a:solidFill>
              <a:srgbClr val="1368E8"/>
            </a:solidFill>
            <a:prstDash val="solid"/>
            <a:tailEnd type="triangle" w="sm" len="sm"/>
          </a:ln>
        </p:spPr>
      </p:cxnSp>
      <p:cxnSp>
        <p:nvCxnSpPr>
          <p:cNvPr id="40" name="直接箭头连接符 39"/>
          <p:cNvCxnSpPr>
            <a:stCxn id="9" idx="3"/>
            <a:endCxn id="12" idx="1"/>
          </p:cNvCxnSpPr>
          <p:nvPr/>
        </p:nvCxnSpPr>
        <p:spPr>
          <a:xfrm>
            <a:off x="8801100" y="2974975"/>
            <a:ext cx="323850" cy="0"/>
          </a:xfrm>
          <a:prstGeom prst="straightConnector1">
            <a:avLst/>
          </a:prstGeom>
          <a:ln w="19050">
            <a:solidFill>
              <a:srgbClr val="17A673"/>
            </a:solidFill>
            <a:prstDash val="solid"/>
            <a:tailEnd type="triangle" w="sm" len="sm"/>
          </a:ln>
        </p:spPr>
      </p:cxnSp>
      <p:sp>
        <p:nvSpPr>
          <p:cNvPr id="18" name="左箭头 17"/>
          <p:cNvSpPr>
            <a:spLocks noGrp="1"/>
          </p:cNvSpPr>
          <p:nvPr/>
        </p:nvSpPr>
        <p:spPr>
          <a:xfrm>
            <a:off x="3333750" y="4708525"/>
            <a:ext cx="8172450" cy="609600"/>
          </a:xfrm>
          <a:prstGeom prst="leftArrow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000500" y="4889500"/>
            <a:ext cx="6781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368E8"/>
                </a:solidFill>
              </a:defRPr>
            </a:pPr>
            <a:r>
              <a:rPr sz="15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执行结果、验收状态与经验实时回写任务蓝图，成为下一轮调度的输入</a:t>
            </a:r>
            <a:endParaRPr sz="15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5800" y="574738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节点可并行、状态可追踪、判断可分支、结果可回流。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04</a:t>
            </a:r>
            <a:endParaRPr sz="900" b="1">
              <a:solidFill>
                <a:srgbClr val="8B98A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TASK BLUEPRINT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任务蓝图是 Graph 的可视化索引，不是普通待办清单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09600" y="1562100"/>
            <a:ext cx="8058150" cy="474345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195" y="1657350"/>
            <a:ext cx="6680959" cy="4552950"/>
          </a:xfrm>
          <a:prstGeom prst="roundRect">
            <a:avLst>
              <a:gd name="adj" fmla="val 2510"/>
            </a:avLst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9048750" y="160909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一张蓝图，同时回答四个问题</a:t>
            </a:r>
            <a:endParaRPr sz="20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9048750" y="2447290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048750" y="250444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1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05950" y="242824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节点是什么？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05950" y="277114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模块 → 功能点 → 交付任务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9048750" y="3437890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048750" y="349504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2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05950" y="341884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边从哪里来？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505950" y="376174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来源需求、依赖关系、里程碑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9048750" y="4428490"/>
            <a:ext cx="323850" cy="323850"/>
          </a:xfrm>
          <a:prstGeom prst="ellipse">
            <a:avLst/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0" y="448564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3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05950" y="4409440"/>
            <a:ext cx="2114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当前状态？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05950" y="4752340"/>
            <a:ext cx="2114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覆盖、交付、未拆解、目标版本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067800" y="5657850"/>
            <a:ext cx="269176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368E8"/>
                </a:solidFill>
              </a:defRPr>
            </a:pPr>
            <a:r>
              <a:rPr sz="15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把复杂体系变成可导航、可追踪、可回写的工作地图。</a:t>
            </a:r>
            <a:endParaRPr sz="15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05</a:t>
            </a:r>
            <a:endParaRPr sz="900" b="1">
              <a:solidFill>
                <a:srgbClr val="8B98A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EXECUTION FABRIC</a:t>
            </a:r>
            <a:endParaRPr sz="11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1ACP 连接不同执行者，让 Graph 不绑定单一模型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42950" y="2652395"/>
            <a:ext cx="230505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" name="矩形 3"/>
          <p:cNvSpPr>
            <a:spLocks noGrp="1"/>
          </p:cNvSpPr>
          <p:nvPr/>
        </p:nvSpPr>
        <p:spPr>
          <a:xfrm>
            <a:off x="914400" y="2823845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任务内核</a:t>
            </a:r>
            <a:endParaRPr sz="21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3166745"/>
            <a:ext cx="1962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上下文 · 验收标准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依赖 · 权限 · 状态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3562350" y="2652395"/>
            <a:ext cx="2076450" cy="1352550"/>
          </a:xfrm>
          <a:prstGeom prst="roundRect">
            <a:avLst>
              <a:gd name="adj" fmla="val 12676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3733800" y="2823845"/>
            <a:ext cx="1733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Schedule</a:t>
            </a:r>
            <a:endParaRPr sz="21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33800" y="3166745"/>
            <a:ext cx="17335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定时触发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  <a:p>
            <a:pPr algn="l">
              <a:defRPr sz="1425" b="0">
                <a:solidFill>
                  <a:srgbClr val="5B6B7F"/>
                </a:solidFill>
              </a:defRPr>
            </a:pPr>
            <a:r>
              <a:rPr sz="142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依赖就绪后派发</a:t>
            </a:r>
            <a:endParaRPr sz="142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53150" y="2404745"/>
            <a:ext cx="2286000" cy="1847850"/>
          </a:xfrm>
          <a:prstGeom prst="roundRect">
            <a:avLst>
              <a:gd name="adj" fmla="val 9278"/>
            </a:avLst>
          </a:prstGeom>
          <a:solidFill>
            <a:srgbClr val="1368E8"/>
          </a:solidFill>
          <a:ln w="9525">
            <a:solidFill>
              <a:srgbClr val="1368E8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6324600" y="257619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  <a:latin typeface="微软雅黑" charset="0"/>
                <a:ea typeface="微软雅黑" charset="0"/>
              </a:rPr>
              <a:t>1ACP / ACPX</a:t>
            </a:r>
            <a:endParaRPr sz="2100" b="1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24600" y="2919095"/>
            <a:ext cx="19431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DDEBFF"/>
                </a:solidFill>
              </a:defRPr>
            </a:pPr>
            <a:r>
              <a:rPr sz="1425" b="0">
                <a:solidFill>
                  <a:srgbClr val="DDEBFF"/>
                </a:solidFill>
                <a:latin typeface="微软雅黑" charset="0"/>
                <a:ea typeface="微软雅黑" charset="0"/>
              </a:rPr>
              <a:t>结构化协议通道</a:t>
            </a:r>
            <a:endParaRPr sz="1425" b="0">
              <a:solidFill>
                <a:srgbClr val="DDEBFF"/>
              </a:solidFill>
              <a:latin typeface="微软雅黑" charset="0"/>
              <a:ea typeface="微软雅黑" charset="0"/>
            </a:endParaRPr>
          </a:p>
          <a:p>
            <a:pPr algn="l">
              <a:defRPr sz="1425" b="0">
                <a:solidFill>
                  <a:srgbClr val="DDEBFF"/>
                </a:solidFill>
              </a:defRPr>
            </a:pPr>
            <a:r>
              <a:rPr sz="1425" b="0">
                <a:solidFill>
                  <a:srgbClr val="DDEBFF"/>
                </a:solidFill>
                <a:latin typeface="微软雅黑" charset="0"/>
                <a:ea typeface="微软雅黑" charset="0"/>
              </a:rPr>
              <a:t>会话 · 权限 · 事件</a:t>
            </a:r>
            <a:endParaRPr sz="1425" b="0">
              <a:solidFill>
                <a:srgbClr val="DDEBFF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49" name="直接箭头连接符 48"/>
          <p:cNvCxnSpPr>
            <a:stCxn id="3" idx="3"/>
            <a:endCxn id="6" idx="1"/>
          </p:cNvCxnSpPr>
          <p:nvPr/>
        </p:nvCxnSpPr>
        <p:spPr>
          <a:xfrm>
            <a:off x="3048000" y="3328670"/>
            <a:ext cx="514350" cy="0"/>
          </a:xfrm>
          <a:prstGeom prst="straightConnector1">
            <a:avLst/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6" idx="3"/>
            <a:endCxn id="9" idx="1"/>
          </p:cNvCxnSpPr>
          <p:nvPr/>
        </p:nvCxnSpPr>
        <p:spPr>
          <a:xfrm>
            <a:off x="5638800" y="3328670"/>
            <a:ext cx="514350" cy="0"/>
          </a:xfrm>
          <a:prstGeom prst="straightConnector1">
            <a:avLst/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sp>
        <p:nvSpPr>
          <p:cNvPr id="14" name="圆角矩形 13"/>
          <p:cNvSpPr>
            <a:spLocks noGrp="1"/>
          </p:cNvSpPr>
          <p:nvPr/>
        </p:nvSpPr>
        <p:spPr>
          <a:xfrm>
            <a:off x="9144000" y="1594485"/>
            <a:ext cx="226695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9315450" y="1765935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Codex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15450" y="210883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代码 / 工具 / 终端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144000" y="2818130"/>
            <a:ext cx="226695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9315450" y="298958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Claude Code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15450" y="3332480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开放式研发执行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144000" y="4041775"/>
            <a:ext cx="2266950" cy="1028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9315450" y="4213225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其他 Agent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15450" y="455612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Pi · OpenClaw · 自定义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60" name="肘形连接符 59"/>
          <p:cNvCxnSpPr>
            <a:stCxn id="9" idx="3"/>
            <a:endCxn id="14" idx="1"/>
          </p:cNvCxnSpPr>
          <p:nvPr/>
        </p:nvCxnSpPr>
        <p:spPr>
          <a:xfrm flipV="1">
            <a:off x="8439150" y="2108835"/>
            <a:ext cx="704850" cy="1219835"/>
          </a:xfrm>
          <a:prstGeom prst="bentConnector3">
            <a:avLst>
              <a:gd name="adj1" fmla="val 50000"/>
            </a:avLst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9" idx="3"/>
            <a:endCxn id="17" idx="1"/>
          </p:cNvCxnSpPr>
          <p:nvPr/>
        </p:nvCxnSpPr>
        <p:spPr>
          <a:xfrm>
            <a:off x="8439150" y="3328670"/>
            <a:ext cx="704850" cy="3810"/>
          </a:xfrm>
          <a:prstGeom prst="straightConnector1">
            <a:avLst/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cxnSp>
        <p:nvCxnSpPr>
          <p:cNvPr id="62" name="肘形连接符 61"/>
          <p:cNvCxnSpPr>
            <a:stCxn id="9" idx="3"/>
            <a:endCxn id="20" idx="1"/>
          </p:cNvCxnSpPr>
          <p:nvPr/>
        </p:nvCxnSpPr>
        <p:spPr>
          <a:xfrm>
            <a:off x="8439150" y="3328670"/>
            <a:ext cx="704850" cy="1227455"/>
          </a:xfrm>
          <a:prstGeom prst="bentConnector3">
            <a:avLst>
              <a:gd name="adj1" fmla="val 50000"/>
            </a:avLst>
          </a:prstGeom>
          <a:ln w="19050">
            <a:solidFill>
              <a:srgbClr val="2E8AF7"/>
            </a:solidFill>
            <a:prstDash val="solid"/>
            <a:tailEnd type="triangle" w="sm" len="sm"/>
          </a:ln>
        </p:spPr>
      </p:cxnSp>
      <p:sp>
        <p:nvSpPr>
          <p:cNvPr id="26" name="圆角矩形 25"/>
          <p:cNvSpPr>
            <a:spLocks noGrp="1"/>
          </p:cNvSpPr>
          <p:nvPr/>
        </p:nvSpPr>
        <p:spPr>
          <a:xfrm>
            <a:off x="838200" y="4895850"/>
            <a:ext cx="76009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51244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defRPr sz="1575" b="0">
                <a:solidFill>
                  <a:srgbClr val="5B6B7F"/>
                </a:solidFill>
              </a:defRPr>
            </a:pPr>
            <a:r>
              <a:rPr sz="15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任务还可分流给</a:t>
            </a:r>
            <a:endParaRPr sz="15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57550" y="503364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defRPr sz="1725" b="1">
                <a:solidFill>
                  <a:srgbClr val="1368E8"/>
                </a:solidFill>
              </a:defRPr>
            </a:pPr>
            <a:r>
              <a:rPr sz="17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Agent</a:t>
            </a:r>
            <a:endParaRPr sz="17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705350" y="5033645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defRPr sz="1725" b="1">
                <a:solidFill>
                  <a:srgbClr val="17A673"/>
                </a:solidFill>
              </a:defRPr>
            </a:pPr>
            <a:r>
              <a:rPr sz="1725" b="1">
                <a:solidFill>
                  <a:srgbClr val="17A673"/>
                </a:solidFill>
                <a:latin typeface="微软雅黑" charset="0"/>
                <a:ea typeface="微软雅黑" charset="0"/>
              </a:rPr>
              <a:t>Function</a:t>
            </a:r>
            <a:endParaRPr sz="1725" b="1">
              <a:solidFill>
                <a:srgbClr val="17A67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362700" y="503364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l">
              <a:defRPr sz="1725" b="1">
                <a:solidFill>
                  <a:srgbClr val="EAA33A"/>
                </a:solidFill>
              </a:defRPr>
            </a:pPr>
            <a:r>
              <a:rPr sz="1725" b="1">
                <a:solidFill>
                  <a:srgbClr val="EAA33A"/>
                </a:solidFill>
                <a:latin typeface="微软雅黑" charset="0"/>
                <a:ea typeface="微软雅黑" charset="0"/>
              </a:rPr>
              <a:t>Human</a:t>
            </a:r>
            <a:endParaRPr sz="1725" b="1">
              <a:solidFill>
                <a:srgbClr val="EAA3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181350" y="535749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200" b="0">
                <a:solidFill>
                  <a:srgbClr val="8B98A9"/>
                </a:solidFill>
              </a:defRPr>
            </a:pPr>
            <a:r>
              <a:rPr sz="1200" b="0">
                <a:solidFill>
                  <a:srgbClr val="8B98A9"/>
                </a:solidFill>
                <a:latin typeface="微软雅黑" charset="0"/>
                <a:ea typeface="微软雅黑" charset="0"/>
              </a:rPr>
              <a:t>判断与变通</a:t>
            </a:r>
            <a:endParaRPr sz="1200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667250" y="535749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200" b="0">
                <a:solidFill>
                  <a:srgbClr val="8B98A9"/>
                </a:solidFill>
              </a:defRPr>
            </a:pPr>
            <a:r>
              <a:rPr sz="1200" b="0">
                <a:solidFill>
                  <a:srgbClr val="8B98A9"/>
                </a:solidFill>
                <a:latin typeface="微软雅黑" charset="0"/>
                <a:ea typeface="微软雅黑" charset="0"/>
              </a:rPr>
              <a:t>确定性步骤</a:t>
            </a:r>
            <a:endParaRPr sz="1200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24600" y="535749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/>
          <a:p>
            <a:pPr algn="ctr">
              <a:defRPr sz="1200" b="0">
                <a:solidFill>
                  <a:srgbClr val="8B98A9"/>
                </a:solidFill>
              </a:defRPr>
            </a:pPr>
            <a:r>
              <a:rPr sz="1200" b="0">
                <a:solidFill>
                  <a:srgbClr val="8B98A9"/>
                </a:solidFill>
                <a:latin typeface="微软雅黑" charset="0"/>
                <a:ea typeface="微软雅黑" charset="0"/>
              </a:rPr>
              <a:t>最终裁决</a:t>
            </a:r>
            <a:endParaRPr sz="1200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571750" y="5962650"/>
            <a:ext cx="704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执行者可替换，Graph 的状态与关系保持稳定。</a:t>
            </a:r>
            <a:endParaRPr sz="18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06</a:t>
            </a:r>
            <a:endParaRPr sz="900" b="1">
              <a:solidFill>
                <a:srgbClr val="8B98A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section-kicker"/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368E8"/>
                </a:solidFill>
              </a:defRPr>
            </a:pPr>
            <a:r>
              <a:rPr sz="1125" b="1">
                <a:solidFill>
                  <a:srgbClr val="1368E8"/>
                </a:solidFill>
              </a:rPr>
              <a:t>WHY GRAPH</a:t>
            </a:r>
            <a:endParaRPr sz="1125" b="1">
              <a:solidFill>
                <a:srgbClr val="1368E8"/>
              </a:solidFill>
            </a:endParaRPr>
          </a:p>
        </p:txBody>
      </p:sp>
      <p:sp>
        <p:nvSpPr>
          <p:cNvPr id="2" name="slide-title"/>
          <p:cNvSpPr>
            <a:spLocks noGrp="1"/>
          </p:cNvSpPr>
          <p:nvPr/>
        </p:nvSpPr>
        <p:spPr>
          <a:xfrm>
            <a:off x="609600" y="6477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>
            <a:noAutofit/>
          </a:bodyPr>
          <a:lstStyle/>
          <a:p>
            <a:pPr lvl="0" algn="l">
              <a:buClrTx/>
              <a:buSzTx/>
              <a:buFontTx/>
              <a:defRPr sz="3450" b="1">
                <a:solidFill>
                  <a:srgbClr val="0B1F3A"/>
                </a:solidFill>
              </a:defRPr>
            </a:pPr>
            <a:r>
              <a:rPr sz="2800">
                <a:latin typeface="微软雅黑" charset="0"/>
                <a:ea typeface="微软雅黑" charset="0"/>
                <a:sym typeface="+mn-ea"/>
              </a:rPr>
              <a:t>它不是 Loop：Graph 才能表达分支、并行与回退</a:t>
            </a:r>
            <a:endParaRPr sz="2800"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14400" y="17526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5B6B7F"/>
                </a:solidFill>
              </a:defRPr>
            </a:pPr>
            <a:r>
              <a:rPr sz="2025" b="1">
                <a:solidFill>
                  <a:srgbClr val="5B6B7F"/>
                </a:solidFill>
                <a:latin typeface="微软雅黑" charset="0"/>
                <a:ea typeface="微软雅黑" charset="0"/>
              </a:rPr>
              <a:t>Loop：只说明“再来一次”</a:t>
            </a:r>
            <a:endParaRPr sz="2025" b="1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1036320" y="26860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3322320" y="2686050"/>
            <a:ext cx="876300" cy="8763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36320" y="3000375"/>
            <a:ext cx="87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63C"/>
                </a:solidFill>
              </a:defRPr>
            </a:pPr>
            <a:r>
              <a:rPr sz="180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执行</a:t>
            </a:r>
            <a:endParaRPr sz="1800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322320" y="3000375"/>
            <a:ext cx="876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263C"/>
                </a:solidFill>
              </a:defRPr>
            </a:pPr>
            <a:r>
              <a:rPr sz="1800" b="1">
                <a:solidFill>
                  <a:srgbClr val="17263C"/>
                </a:solidFill>
                <a:latin typeface="微软雅黑" charset="0"/>
                <a:ea typeface="微软雅黑" charset="0"/>
              </a:rPr>
              <a:t>重试</a:t>
            </a:r>
            <a:endParaRPr sz="1800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51" name="曲线连接符 50"/>
          <p:cNvCxnSpPr>
            <a:stCxn id="4" idx="6"/>
            <a:endCxn id="5" idx="2"/>
          </p:cNvCxnSpPr>
          <p:nvPr/>
        </p:nvCxnSpPr>
        <p:spPr>
          <a:xfrm>
            <a:off x="1912620" y="3124200"/>
            <a:ext cx="1409700" cy="0"/>
          </a:xfrm>
          <a:prstGeom prst="curvedConnector2">
            <a:avLst/>
          </a:prstGeom>
          <a:ln w="19050">
            <a:solidFill>
              <a:srgbClr val="8B98A9"/>
            </a:solidFill>
            <a:prstDash val="solid"/>
            <a:tailEnd type="triangle" w="sm" len="sm"/>
          </a:ln>
        </p:spPr>
      </p:cxnSp>
      <p:sp>
        <p:nvSpPr>
          <p:cNvPr id="10" name="矩形 9"/>
          <p:cNvSpPr>
            <a:spLocks noGrp="1"/>
          </p:cNvSpPr>
          <p:nvPr/>
        </p:nvSpPr>
        <p:spPr>
          <a:xfrm>
            <a:off x="826770" y="4110355"/>
            <a:ext cx="3581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8B98A9"/>
                </a:solidFill>
              </a:defRPr>
            </a:pPr>
            <a:r>
              <a:rPr sz="1575" b="0">
                <a:solidFill>
                  <a:srgbClr val="8B98A9"/>
                </a:solidFill>
                <a:latin typeface="微软雅黑" charset="0"/>
                <a:ea typeface="微软雅黑" charset="0"/>
              </a:rPr>
              <a:t>缺少依赖、责任和完成定义</a:t>
            </a:r>
            <a:endParaRPr sz="1575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0" y="17526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368E8"/>
                </a:solidFill>
              </a:defRPr>
            </a:pPr>
            <a:r>
              <a:rPr sz="202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Graph：判断决定下一条边</a:t>
            </a:r>
            <a:endParaRPr sz="202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53150" y="2724150"/>
            <a:ext cx="1428750" cy="895350"/>
          </a:xfrm>
          <a:prstGeom prst="roundRect">
            <a:avLst>
              <a:gd name="adj" fmla="val 19149"/>
            </a:avLst>
          </a:prstGeom>
          <a:solidFill>
            <a:srgbClr val="EAF3FF"/>
          </a:solidFill>
          <a:ln w="9525">
            <a:solidFill>
              <a:srgbClr val="D9EA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6324600" y="28956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执行</a:t>
            </a:r>
            <a:endParaRPr sz="172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24600" y="32385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产出结果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菱形 14"/>
          <p:cNvSpPr>
            <a:spLocks noGrp="1"/>
          </p:cNvSpPr>
          <p:nvPr/>
        </p:nvSpPr>
        <p:spPr>
          <a:xfrm>
            <a:off x="8077200" y="2628900"/>
            <a:ext cx="1200150" cy="1066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368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248650" y="2943225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验收</a:t>
            </a:r>
            <a:endParaRPr sz="15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  <a:p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通过？</a:t>
            </a:r>
            <a:endParaRPr sz="15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9829800" y="2266950"/>
            <a:ext cx="1428750" cy="895350"/>
          </a:xfrm>
          <a:prstGeom prst="roundRect">
            <a:avLst>
              <a:gd name="adj" fmla="val 19149"/>
            </a:avLst>
          </a:prstGeom>
          <a:solidFill>
            <a:srgbClr val="E7F7F1"/>
          </a:solidFill>
          <a:ln w="9525">
            <a:solidFill>
              <a:srgbClr val="B8E6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10001250" y="24384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7A673"/>
                </a:solidFill>
              </a:defRPr>
            </a:pPr>
            <a:r>
              <a:rPr sz="1725" b="1">
                <a:solidFill>
                  <a:srgbClr val="17A673"/>
                </a:solidFill>
                <a:latin typeface="微软雅黑" charset="0"/>
                <a:ea typeface="微软雅黑" charset="0"/>
              </a:rPr>
              <a:t>关闭</a:t>
            </a:r>
            <a:endParaRPr sz="1725" b="1">
              <a:solidFill>
                <a:srgbClr val="17A67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01250" y="27813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状态回写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829800" y="3714750"/>
            <a:ext cx="1428750" cy="895350"/>
          </a:xfrm>
          <a:prstGeom prst="roundRect">
            <a:avLst>
              <a:gd name="adj" fmla="val 19149"/>
            </a:avLst>
          </a:prstGeom>
          <a:solidFill>
            <a:srgbClr val="FDEBEC"/>
          </a:solidFill>
          <a:ln w="9525">
            <a:solidFill>
              <a:srgbClr val="F3BFC3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10001250" y="38862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D94A4A"/>
                </a:solidFill>
              </a:defRPr>
            </a:pPr>
            <a:r>
              <a:rPr sz="1725" b="1">
                <a:solidFill>
                  <a:srgbClr val="D94A4A"/>
                </a:solidFill>
                <a:latin typeface="微软雅黑" charset="0"/>
                <a:ea typeface="微软雅黑" charset="0"/>
              </a:rPr>
              <a:t>返工</a:t>
            </a:r>
            <a:endParaRPr sz="1725" b="1">
              <a:solidFill>
                <a:srgbClr val="D94A4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0" y="42291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5B6B7F"/>
                </a:solidFill>
              </a:defRPr>
            </a:pPr>
            <a:r>
              <a:rPr sz="1275" b="0">
                <a:solidFill>
                  <a:srgbClr val="5B6B7F"/>
                </a:solidFill>
                <a:latin typeface="微软雅黑" charset="0"/>
                <a:ea typeface="微软雅黑" charset="0"/>
              </a:rPr>
              <a:t>带原因重入</a:t>
            </a:r>
            <a:endParaRPr sz="1275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cxnSp>
        <p:nvCxnSpPr>
          <p:cNvPr id="66" name="直接箭头连接符 65"/>
          <p:cNvCxnSpPr>
            <a:stCxn id="12" idx="3"/>
            <a:endCxn id="15" idx="1"/>
          </p:cNvCxnSpPr>
          <p:nvPr/>
        </p:nvCxnSpPr>
        <p:spPr>
          <a:xfrm flipV="1">
            <a:off x="7581900" y="3162300"/>
            <a:ext cx="495300" cy="9525"/>
          </a:xfrm>
          <a:prstGeom prst="straightConnector1">
            <a:avLst/>
          </a:prstGeom>
          <a:ln w="19050">
            <a:solidFill>
              <a:srgbClr val="1368E8"/>
            </a:solidFill>
            <a:prstDash val="solid"/>
            <a:tailEnd type="triangle" w="sm" len="sm"/>
          </a:ln>
        </p:spPr>
      </p:cxnSp>
      <p:cxnSp>
        <p:nvCxnSpPr>
          <p:cNvPr id="67" name="肘形连接符 66"/>
          <p:cNvCxnSpPr>
            <a:stCxn id="15" idx="3"/>
            <a:endCxn id="17" idx="1"/>
          </p:cNvCxnSpPr>
          <p:nvPr/>
        </p:nvCxnSpPr>
        <p:spPr>
          <a:xfrm flipV="1">
            <a:off x="9277350" y="2714625"/>
            <a:ext cx="552450" cy="447675"/>
          </a:xfrm>
          <a:prstGeom prst="bentConnector3">
            <a:avLst>
              <a:gd name="adj1" fmla="val 50000"/>
            </a:avLst>
          </a:prstGeom>
          <a:ln w="19050">
            <a:solidFill>
              <a:srgbClr val="17A673"/>
            </a:solidFill>
            <a:prstDash val="solid"/>
            <a:tailEnd type="triangle" w="sm" len="sm"/>
          </a:ln>
        </p:spPr>
      </p:cxnSp>
      <p:cxnSp>
        <p:nvCxnSpPr>
          <p:cNvPr id="68" name="肘形连接符 67"/>
          <p:cNvCxnSpPr>
            <a:stCxn id="15" idx="3"/>
            <a:endCxn id="20" idx="1"/>
          </p:cNvCxnSpPr>
          <p:nvPr/>
        </p:nvCxnSpPr>
        <p:spPr>
          <a:xfrm>
            <a:off x="9277350" y="3162300"/>
            <a:ext cx="552450" cy="1000125"/>
          </a:xfrm>
          <a:prstGeom prst="bentConnector3">
            <a:avLst>
              <a:gd name="adj1" fmla="val 50000"/>
            </a:avLst>
          </a:prstGeom>
          <a:ln w="19050">
            <a:solidFill>
              <a:srgbClr val="D94A4A"/>
            </a:solidFill>
            <a:prstDash val="solid"/>
            <a:tailEnd type="triangle" w="sm" len="sm"/>
          </a:ln>
        </p:spPr>
      </p:cxnSp>
      <p:cxnSp>
        <p:nvCxnSpPr>
          <p:cNvPr id="69" name="肘形连接符 68"/>
          <p:cNvCxnSpPr>
            <a:stCxn id="20" idx="2"/>
            <a:endCxn id="12" idx="2"/>
          </p:cNvCxnSpPr>
          <p:nvPr/>
        </p:nvCxnSpPr>
        <p:spPr>
          <a:xfrm rot="5400000" flipH="1">
            <a:off x="8210550" y="2276475"/>
            <a:ext cx="990600" cy="3676650"/>
          </a:xfrm>
          <a:prstGeom prst="bentConnector3">
            <a:avLst>
              <a:gd name="adj1" fmla="val -24038"/>
            </a:avLst>
          </a:prstGeom>
          <a:ln w="19050">
            <a:solidFill>
              <a:srgbClr val="D94A4A"/>
            </a:solidFill>
            <a:prstDash val="dash"/>
            <a:tailEnd type="triangle" w="sm" len="sm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9353550" y="2381250"/>
            <a:ext cx="495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A673"/>
                </a:solidFill>
              </a:defRPr>
            </a:pPr>
            <a:r>
              <a:rPr sz="1200" b="1">
                <a:solidFill>
                  <a:srgbClr val="17A673"/>
                </a:solidFill>
                <a:latin typeface="微软雅黑" charset="0"/>
                <a:ea typeface="微软雅黑" charset="0"/>
              </a:rPr>
              <a:t>通过</a:t>
            </a:r>
            <a:endParaRPr sz="1200" b="1">
              <a:solidFill>
                <a:srgbClr val="17A673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20200" y="3848100"/>
            <a:ext cx="72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D94A4A"/>
                </a:solidFill>
              </a:defRPr>
            </a:pPr>
            <a:r>
              <a:rPr sz="1125" b="1">
                <a:solidFill>
                  <a:srgbClr val="D94A4A"/>
                </a:solidFill>
                <a:latin typeface="微软雅黑" charset="0"/>
                <a:ea typeface="微软雅黑" charset="0"/>
              </a:rPr>
              <a:t>不通过</a:t>
            </a:r>
            <a:endParaRPr sz="1125" b="1">
              <a:solidFill>
                <a:srgbClr val="D94A4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38200" y="5200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368E8"/>
                </a:solidFill>
              </a:defRPr>
            </a:pPr>
            <a:r>
              <a:rPr sz="9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NODE</a:t>
            </a:r>
            <a:endParaRPr sz="9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8200" y="54483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节点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8200" y="5772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谁要做什么</a:t>
            </a:r>
            <a:endParaRPr sz="135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638550" y="5200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368E8"/>
                </a:solidFill>
              </a:defRPr>
            </a:pPr>
            <a:r>
              <a:rPr sz="9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STATE</a:t>
            </a:r>
            <a:endParaRPr sz="9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638550" y="54483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状态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638550" y="5772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现在走到哪</a:t>
            </a:r>
            <a:endParaRPr sz="135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438900" y="5200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368E8"/>
                </a:solidFill>
              </a:defRPr>
            </a:pPr>
            <a:r>
              <a:rPr sz="9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DECISION</a:t>
            </a:r>
            <a:endParaRPr sz="9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438900" y="54483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判断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438900" y="5772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下一条边是什么</a:t>
            </a:r>
            <a:endParaRPr sz="135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239250" y="52006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368E8"/>
                </a:solidFill>
              </a:defRPr>
            </a:pPr>
            <a:r>
              <a:rPr sz="975" b="1">
                <a:solidFill>
                  <a:srgbClr val="1368E8"/>
                </a:solidFill>
                <a:latin typeface="微软雅黑" charset="0"/>
                <a:ea typeface="微软雅黑" charset="0"/>
              </a:rPr>
              <a:t>FEEDBACK</a:t>
            </a:r>
            <a:endParaRPr sz="975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39250" y="54483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回流</a:t>
            </a:r>
            <a:endParaRPr sz="180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239250" y="5772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F"/>
                </a:solidFill>
              </a:defRPr>
            </a:pPr>
            <a:r>
              <a:rPr sz="135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结果如何改变计划</a:t>
            </a:r>
            <a:endParaRPr sz="135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609600" y="6515100"/>
            <a:ext cx="10972800" cy="0"/>
          </a:xfrm>
          <a:prstGeom prst="line">
            <a:avLst/>
          </a:prstGeom>
          <a:noFill/>
          <a:ln w="9525">
            <a:solidFill>
              <a:srgbClr val="D7E2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09600" y="65913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1AGENTS · AGENT INFRA</a:t>
            </a:r>
            <a:endParaRPr sz="900" b="1">
              <a:solidFill>
                <a:srgbClr val="8B98A9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991850" y="6591300"/>
            <a:ext cx="59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B98A9"/>
                </a:solidFill>
              </a:defRPr>
            </a:pPr>
            <a:r>
              <a:rPr sz="900" b="1">
                <a:solidFill>
                  <a:srgbClr val="8B98A9"/>
                </a:solidFill>
              </a:rPr>
              <a:t>07</a:t>
            </a:r>
            <a:endParaRPr sz="900" b="1">
              <a:solidFill>
                <a:srgbClr val="8B98A9"/>
              </a:solidFill>
            </a:endParaRPr>
          </a:p>
        </p:txBody>
      </p:sp>
      <p:cxnSp>
        <p:nvCxnSpPr>
          <p:cNvPr id="8" name="肘形连接符 7"/>
          <p:cNvCxnSpPr>
            <a:stCxn id="5" idx="4"/>
            <a:endCxn id="4" idx="4"/>
          </p:cNvCxnSpPr>
          <p:nvPr/>
        </p:nvCxnSpPr>
        <p:spPr>
          <a:xfrm rot="5400000">
            <a:off x="2617470" y="2419350"/>
            <a:ext cx="3175" cy="2286000"/>
          </a:xfrm>
          <a:prstGeom prst="bentConnector3">
            <a:avLst>
              <a:gd name="adj1" fmla="val 10110000"/>
            </a:avLst>
          </a:prstGeom>
          <a:ln w="19050">
            <a:solidFill>
              <a:srgbClr val="D94A4A"/>
            </a:solidFill>
            <a:prstDash val="dash"/>
            <a:tailEnd type="triangl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85800" y="7239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368E8"/>
                </a:solidFill>
              </a:defRPr>
            </a:pPr>
            <a:r>
              <a:rPr sz="120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THANK YOU</a:t>
            </a:r>
            <a:endParaRPr sz="120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25730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0B1F3A"/>
                </a:solidFill>
              </a:defRPr>
            </a:pPr>
            <a:r>
              <a:rPr sz="4650" b="1">
                <a:solidFill>
                  <a:srgbClr val="0B1F3A"/>
                </a:solidFill>
                <a:latin typeface="微软雅黑" charset="0"/>
                <a:ea typeface="微软雅黑" charset="0"/>
              </a:rPr>
              <a:t>谢谢聆听</a:t>
            </a:r>
            <a:endParaRPr sz="4650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21717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368E8"/>
                </a:solidFill>
              </a:defRPr>
            </a:pPr>
            <a:r>
              <a:rPr sz="2400" b="1">
                <a:solidFill>
                  <a:srgbClr val="1368E8"/>
                </a:solidFill>
                <a:latin typeface="微软雅黑" charset="0"/>
                <a:ea typeface="微软雅黑" charset="0"/>
              </a:rPr>
              <a:t>欢迎添加我的联系方式</a:t>
            </a:r>
            <a:endParaRPr sz="2400" b="1">
              <a:solidFill>
                <a:srgbClr val="1368E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3181350"/>
            <a:ext cx="5619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63C"/>
                </a:solidFill>
              </a:defRPr>
            </a:pPr>
            <a:r>
              <a:rPr sz="2025" b="1">
                <a:solidFill>
                  <a:srgbClr val="17263C"/>
                </a:solidFill>
                <a:latin typeface="微软雅黑" charset="0"/>
                <a:ea typeface="微软雅黑" charset="0"/>
              </a:rPr>
              <a:t>当节点、状态、判断与回流被系统化，</a:t>
            </a:r>
            <a:endParaRPr sz="2025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  <a:p>
            <a:pPr algn="l">
              <a:defRPr sz="2025" b="1">
                <a:solidFill>
                  <a:srgbClr val="17263C"/>
                </a:solidFill>
              </a:defRPr>
            </a:pPr>
            <a:r>
              <a:rPr sz="2025" b="1">
                <a:solidFill>
                  <a:srgbClr val="17263C"/>
                </a:solidFill>
                <a:latin typeface="微软雅黑" charset="0"/>
                <a:ea typeface="微软雅黑" charset="0"/>
              </a:rPr>
              <a:t>一万个 Agent 才拥有共同的工作图。</a:t>
            </a:r>
            <a:endParaRPr sz="2025" b="1">
              <a:solidFill>
                <a:srgbClr val="17263C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4552950"/>
            <a:ext cx="561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B6B7F"/>
                </a:solidFill>
              </a:defRPr>
            </a:pPr>
            <a:r>
              <a:rPr sz="1650" b="0">
                <a:solidFill>
                  <a:srgbClr val="5B6B7F"/>
                </a:solidFill>
                <a:latin typeface="微软雅黑" charset="0"/>
                <a:ea typeface="微软雅黑" charset="0"/>
              </a:rPr>
              <a:t>让 Agent 从“会做事”，升级为“持续把事做完”。</a:t>
            </a:r>
            <a:endParaRPr sz="1650" b="0">
              <a:solidFill>
                <a:srgbClr val="5B6B7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56578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8B98A9"/>
                </a:solidFill>
              </a:defRPr>
            </a:pPr>
            <a:r>
              <a:rPr sz="1425" b="0">
                <a:solidFill>
                  <a:srgbClr val="8B98A9"/>
                </a:solidFill>
                <a:latin typeface="微软雅黑" charset="0"/>
                <a:ea typeface="微软雅黑" charset="0"/>
              </a:rPr>
              <a:t>晓风谈AI · 2026-08-01</a:t>
            </a:r>
            <a:endParaRPr sz="1425" b="0">
              <a:solidFill>
                <a:srgbClr val="8B98A9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334250" y="704850"/>
            <a:ext cx="3676650" cy="5010150"/>
          </a:xfrm>
          <a:prstGeom prst="roundRect">
            <a:avLst>
              <a:gd name="adj" fmla="val 6218"/>
            </a:avLst>
          </a:prstGeom>
          <a:solidFill>
            <a:srgbClr val="FFFFFF"/>
          </a:solidFill>
          <a:ln w="9525">
            <a:solidFill>
              <a:srgbClr val="D7E2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76" y="952500"/>
            <a:ext cx="3028798" cy="3857625"/>
          </a:xfrm>
          <a:prstGeom prst="roundRect">
            <a:avLst>
              <a:gd name="adj" fmla="val 3774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7753350" y="5067300"/>
            <a:ext cx="2838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  <a:latin typeface="微软雅黑" charset="0"/>
                <a:ea typeface="微软雅黑" charset="0"/>
              </a:rPr>
              <a:t>扫码添加 · 欢迎交流</a:t>
            </a:r>
            <a:endParaRPr sz="1575" b="1">
              <a:solidFill>
                <a:srgbClr val="0B1F3A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1546</Words>
  <Application>WPS 演示</Application>
  <PresentationFormat>Converted Presentation</PresentationFormat>
  <Paragraphs>282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曾晓峰</cp:lastModifiedBy>
  <cp:revision>6</cp:revision>
  <dcterms:created xsi:type="dcterms:W3CDTF">2026-07-31T03:31:39Z</dcterms:created>
  <dcterms:modified xsi:type="dcterms:W3CDTF">2026-07-31T03:31:39Z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26E19791BCDB03F41F146C6A0041F524_42</vt:lpwstr>
  </property>
  <property fmtid="{D5CDD505-2E9C-101B-9397-08002B2CF9AE}" pid="3" name="KSOProductBuildVer">
    <vt:lpwstr>2052-12.1.26026.26026</vt:lpwstr>
  </property>
</Properties>
</file>